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36"/>
    <p:restoredTop sz="94717"/>
  </p:normalViewPr>
  <p:slideViewPr>
    <p:cSldViewPr snapToGrid="0">
      <p:cViewPr varScale="1">
        <p:scale>
          <a:sx n="149" d="100"/>
          <a:sy n="149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38DD9-3482-D194-F1BE-214C3A85C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57649-6F28-6EEA-AEB2-173E97C13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EA828-2975-B1E9-A4E7-1361AD731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31BC8-B620-C00F-95B9-9409834A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028A2-7FBE-5050-A764-E1015D3B1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00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BACA1-2E2E-ADF3-4D89-C4851113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F12E1-AAFD-507B-D49C-D9BFA6F22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2805-114B-60E3-9E70-F99D0C9DD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96F0F-7ECF-D6E7-0C77-1659E72F3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D7313-DB29-8359-4EF4-4B068EDE2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85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B205-228A-BF51-88DD-D788D6DAB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EE474-8C1C-D220-2113-E90ED7ED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4A51-A9B4-11CA-CD3D-637EAF5F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D131-597E-F4A4-8D22-DDC5F224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C8E59-E36F-6274-EBFA-08328CF4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37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EA2E-16F3-86AE-DBBD-F4CC1264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638E3-D00B-B5E8-59B4-A77002B17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53EFB-EA7A-8C32-4902-388F95B23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B9A0B-580B-43B9-D4D7-4EA1FAC96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F497E-F1F4-AC3D-42F5-60A8191C0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F020E-859D-48D7-65AF-F4161E55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63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4D33-6B56-6EDB-F96D-C1FEC6FE7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52A21-B9AB-6C93-DD1E-FCAFD6F2D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A7041-F49B-F6EB-A32D-42E15B08E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0FD95-9471-0256-F5FC-AAC15F235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66C2C4-8015-9BB8-E125-48330B708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FD2D0-2704-C20A-6F2D-6BD8B5A33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C8F77-A75D-7EA6-6DDB-08116CB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A6930-468C-5D79-CF61-3B54FD2DD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23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29961-4966-60E7-C548-2F5D2E49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1117B-2B88-755C-18F9-A11E7541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D38F2-8CEB-00D2-FC90-FFBB63DF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5B9B1-8AFE-C226-1BC5-81F775D3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23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E4B202-9CC0-FFF1-2651-79A316680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FF1747-DDC5-92E3-968B-CE7AA60C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4241B-E009-4676-7F0A-B603E263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10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A671-0137-4EE2-BC26-A369E090A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D456C-3C4E-5FA5-C799-DCAA54A46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877D1-C89D-56F1-B1D3-0CCB77F01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2E5D7-8537-2E82-6A4B-3F258161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C9214-708E-2CF7-CBC3-C262DBAF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985B3-D41B-C3DF-78F1-83B48702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3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F7D0-D1A8-DA90-0BBC-7FBDAAA8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105D8E-32A3-B1C7-06A5-80C4C2DB82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E2DBA-B968-D306-31FC-BFEEA91DF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52496-040A-80CD-FCB4-2B8D0109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E7C13-F88B-4473-F0CA-E1646737D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D3FA2-81E6-007B-A11B-701D965D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7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1D28-366D-A0B4-D859-B1A3D98F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FE70C-6718-0285-456F-023143C2E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57AD7-A008-98BD-DBE1-14D8CA1C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579B5-F773-22DB-DB71-A8A13F56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C414B-DE9E-7928-2256-90DBDC0B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91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59E4A6-863A-DDA4-8712-3705C98584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25758-FEB3-1332-E2A3-43EEA5C4C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2505B-12C3-A6D8-84B7-188F7622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4AE38-5858-F80B-CF9D-665D8AA6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92443-8345-3423-7C9F-5D729CE0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3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EBBFD-4D3E-D20A-0945-574158B1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0A9F0-9A90-19C4-45AA-CE30BF245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53B7A-9E20-88A2-1F72-B77586F78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8417F-2E4F-EA43-95BD-5C8EA1E31B85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09F81-9D63-FB2E-0D9C-10F8B3AA6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380DE-EA48-530A-F80D-45A5BA1EB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F6A83-B2E2-C54E-9A17-B363CE400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1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3C06-E184-4CF9-988D-FCCA1DB2E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54E80-349B-7297-FC90-CCB0C53B3A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ru-RU" dirty="0"/>
              <a:t>Нововведения С++20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765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A661-383F-1CE2-7CCD-2A153F2D6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36C9B-F670-EDFD-6191-817AEF454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2E17C4F-EF1E-045C-BB78-E2842B797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38972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82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F574C-A5FA-5B8C-E903-ABAA66036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13AC-CFE3-9235-DE3B-D138FAF6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DFD1DA-92AB-DDCC-3F4C-17CB841F2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8B15DC-0D14-8EF3-D223-BD54B0414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2794"/>
            <a:ext cx="68707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3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A9D04-6F3C-A1C1-7417-F0D8386B1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82A2-E56B-EFC8-5424-4B402521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035595E-F8B5-72A2-B8D5-9551442D5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DB1E04-89DD-43E9-4498-41B55A4AA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1194"/>
            <a:ext cx="6007100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5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87975-605C-AA11-D24B-A01AF61D8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A9984-2092-8ED2-CAFD-C18B8A52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0907CC-716F-F978-36E7-C9BD3AEF2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Экспортируются только объявления, помеченные </a:t>
            </a:r>
            <a:r>
              <a:rPr lang="en-US" b="1" dirty="0"/>
              <a:t>export</a:t>
            </a:r>
          </a:p>
          <a:p>
            <a:pPr lvl="1"/>
            <a:r>
              <a:rPr lang="ru-RU" dirty="0"/>
              <a:t>не все символы файла, как в заголовке</a:t>
            </a:r>
          </a:p>
          <a:p>
            <a:r>
              <a:rPr lang="ru-RU" dirty="0"/>
              <a:t>Можно экспортировать:</a:t>
            </a:r>
          </a:p>
          <a:p>
            <a:pPr lvl="1"/>
            <a:r>
              <a:rPr lang="ru-RU" dirty="0"/>
              <a:t>функции, классы, переменные, шаблоны, </a:t>
            </a:r>
            <a:r>
              <a:rPr lang="ru-RU" dirty="0" err="1"/>
              <a:t>алиасы</a:t>
            </a:r>
            <a:r>
              <a:rPr lang="ru-RU" dirty="0"/>
              <a:t>, </a:t>
            </a:r>
            <a:r>
              <a:rPr lang="en-US" dirty="0" err="1"/>
              <a:t>enum</a:t>
            </a:r>
            <a:r>
              <a:rPr lang="en-US" dirty="0"/>
              <a:t>, </a:t>
            </a:r>
            <a:r>
              <a:rPr lang="ru-RU" dirty="0"/>
              <a:t>концепты…</a:t>
            </a:r>
          </a:p>
          <a:p>
            <a:pPr lvl="1"/>
            <a:r>
              <a:rPr lang="ru-RU" dirty="0"/>
              <a:t>макросы не экспортируются</a:t>
            </a:r>
          </a:p>
          <a:p>
            <a:r>
              <a:rPr lang="ru-RU" dirty="0"/>
              <a:t>Для шаблонов нужно, чтобы его </a:t>
            </a:r>
            <a:r>
              <a:rPr lang="ru-RU" b="1" dirty="0"/>
              <a:t>определение</a:t>
            </a:r>
            <a:r>
              <a:rPr lang="ru-RU" dirty="0"/>
              <a:t> было </a:t>
            </a:r>
            <a:r>
              <a:rPr lang="ru-RU" b="1" dirty="0"/>
              <a:t>доступно</a:t>
            </a:r>
            <a:r>
              <a:rPr lang="ru-RU" dirty="0"/>
              <a:t> при импорте (то есть в экспортируемой части модуля), иначе могут быть сложности с </a:t>
            </a:r>
            <a:r>
              <a:rPr lang="ru-RU" dirty="0" err="1"/>
              <a:t>инстанцированием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599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121B-62DC-8013-F064-6B41227E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576F4-6D2E-3093-492F-7D378E0C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Концепты в </a:t>
            </a:r>
            <a:r>
              <a:rPr lang="en-US" dirty="0"/>
              <a:t>C++20 — </a:t>
            </a:r>
            <a:r>
              <a:rPr lang="ru-RU" dirty="0"/>
              <a:t>это способ задавать </a:t>
            </a:r>
            <a:r>
              <a:rPr lang="ru-RU" b="1" dirty="0"/>
              <a:t>ограничения на шаблонные параметры</a:t>
            </a:r>
            <a:r>
              <a:rPr lang="ru-RU" dirty="0"/>
              <a:t> на уровне интерфейса, так чтобы:</a:t>
            </a:r>
          </a:p>
          <a:p>
            <a:r>
              <a:rPr lang="ru-RU" dirty="0"/>
              <a:t>ошибки компиляции становились </a:t>
            </a:r>
            <a:r>
              <a:rPr lang="ru-RU" b="1" dirty="0"/>
              <a:t>понятнее</a:t>
            </a:r>
            <a:r>
              <a:rPr lang="ru-RU" dirty="0"/>
              <a:t> (“тип не удовлетворяет </a:t>
            </a:r>
            <a:r>
              <a:rPr lang="en-US" dirty="0"/>
              <a:t>Comparable”)</a:t>
            </a:r>
          </a:p>
          <a:p>
            <a:r>
              <a:rPr lang="ru-RU" dirty="0"/>
              <a:t>перегрузки/специализации выбирались </a:t>
            </a:r>
            <a:r>
              <a:rPr lang="ru-RU" b="1" dirty="0"/>
              <a:t>предсказуемо</a:t>
            </a:r>
          </a:p>
          <a:p>
            <a:r>
              <a:rPr lang="ru-RU" dirty="0"/>
              <a:t>требования к типам были </a:t>
            </a:r>
            <a:r>
              <a:rPr lang="ru-RU" b="1" dirty="0"/>
              <a:t>явными</a:t>
            </a:r>
            <a:r>
              <a:rPr lang="ru-RU" dirty="0"/>
              <a:t> и </a:t>
            </a:r>
            <a:r>
              <a:rPr lang="ru-RU" b="1" dirty="0"/>
              <a:t>проверяемыми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31997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1C4B7-B187-3DD1-0695-C4033A819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3346-DD1F-7D17-FE30-462FACCBA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611328-43FD-B661-70F1-45707C12D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223167-236B-24A2-DA39-C162E6EEC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9244"/>
            <a:ext cx="44577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68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78B69-0C0F-7577-3407-14CF5A7B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A229-0C33-2E02-1D65-4C182BB1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B78C6A-91F8-3942-A140-2CF19ADD7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A2308C-32B8-B378-8A06-7389822F6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4194"/>
            <a:ext cx="4965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1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FE09-81AA-9E7F-7F45-93A64378A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4B8CB-1013-D46A-C27D-8931D827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B8DE7E-D969-EEB7-6092-E01446DF4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BEBEB-4A32-D1B8-51D0-20011CD0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02594"/>
            <a:ext cx="72898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60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B342B-0FD3-5C37-9620-0049C0668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26C4-B317-3199-C084-ADD10E23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2B725C0-AABC-7A77-2418-23B02FB83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C42CA5-0EA6-B385-3628-82BC177BF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9144"/>
            <a:ext cx="34544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9B89C-AC4C-735B-4AA8-D534FA39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3723-0596-B83A-4AEF-D39DB9DB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039A49-A319-D298-352A-B40764667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C47D7-519B-E158-496F-BAD360C6E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1494"/>
            <a:ext cx="70231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61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BF83C-CE5F-04DE-6BED-29C9E4F4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1AECB-35A2-E0E8-610E-46BB92B4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8D306A6-1B8B-ACEF-0D18-44F990E7E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Из &lt;</a:t>
            </a:r>
            <a:r>
              <a:rPr lang="en-US" dirty="0"/>
              <a:t>concepts&gt;:</a:t>
            </a:r>
          </a:p>
          <a:p>
            <a:pPr lvl="1"/>
            <a:r>
              <a:rPr lang="en-US" dirty="0"/>
              <a:t>std::integral, std::</a:t>
            </a:r>
            <a:r>
              <a:rPr lang="en-US" dirty="0" err="1"/>
              <a:t>floating_point</a:t>
            </a:r>
            <a:endParaRPr lang="en-US" dirty="0"/>
          </a:p>
          <a:p>
            <a:pPr lvl="1"/>
            <a:r>
              <a:rPr lang="en-US" dirty="0"/>
              <a:t>std::</a:t>
            </a:r>
            <a:r>
              <a:rPr lang="en-US" dirty="0" err="1"/>
              <a:t>same_as</a:t>
            </a:r>
            <a:r>
              <a:rPr lang="en-US" dirty="0"/>
              <a:t>, std::</a:t>
            </a:r>
            <a:r>
              <a:rPr lang="en-US" dirty="0" err="1"/>
              <a:t>convertible_to</a:t>
            </a:r>
            <a:endParaRPr lang="en-US" dirty="0"/>
          </a:p>
          <a:p>
            <a:pPr lvl="1"/>
            <a:r>
              <a:rPr lang="en-US" dirty="0"/>
              <a:t>std::</a:t>
            </a:r>
            <a:r>
              <a:rPr lang="en-US" dirty="0" err="1"/>
              <a:t>derived_from</a:t>
            </a:r>
            <a:endParaRPr lang="en-US" dirty="0"/>
          </a:p>
          <a:p>
            <a:pPr lvl="1"/>
            <a:r>
              <a:rPr lang="en-US" dirty="0"/>
              <a:t>std::</a:t>
            </a:r>
            <a:r>
              <a:rPr lang="en-US" dirty="0" err="1"/>
              <a:t>default_initializable</a:t>
            </a:r>
            <a:r>
              <a:rPr lang="en-US" dirty="0"/>
              <a:t>, std::copyable, std::movable, std::semiregular, std::regular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equality_comparable</a:t>
            </a:r>
            <a:r>
              <a:rPr lang="en-US" dirty="0"/>
              <a:t>, std::</a:t>
            </a:r>
            <a:r>
              <a:rPr lang="en-US" dirty="0" err="1"/>
              <a:t>totally_ordered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Из &lt;</a:t>
            </a:r>
            <a:r>
              <a:rPr lang="en-US" dirty="0"/>
              <a:t>ranges&gt;:</a:t>
            </a:r>
          </a:p>
          <a:p>
            <a:pPr lvl="1"/>
            <a:r>
              <a:rPr lang="en-US" dirty="0"/>
              <a:t>std::ranges::range, </a:t>
            </a:r>
            <a:r>
              <a:rPr lang="en-US" dirty="0" err="1"/>
              <a:t>input_range</a:t>
            </a:r>
            <a:r>
              <a:rPr lang="en-US" dirty="0"/>
              <a:t>, </a:t>
            </a:r>
            <a:r>
              <a:rPr lang="en-US" dirty="0" err="1"/>
              <a:t>forward_range</a:t>
            </a:r>
            <a:r>
              <a:rPr lang="en-US" dirty="0"/>
              <a:t>, </a:t>
            </a:r>
            <a:r>
              <a:rPr lang="en-US" dirty="0" err="1"/>
              <a:t>bidirectional_range</a:t>
            </a:r>
            <a:r>
              <a:rPr lang="en-US" dirty="0"/>
              <a:t>, </a:t>
            </a:r>
            <a:r>
              <a:rPr lang="en-US" dirty="0" err="1"/>
              <a:t>random_access_range</a:t>
            </a:r>
            <a:r>
              <a:rPr lang="en-US" dirty="0"/>
              <a:t>, …</a:t>
            </a:r>
          </a:p>
          <a:p>
            <a:pPr lvl="1"/>
            <a:r>
              <a:rPr lang="en-US" dirty="0"/>
              <a:t>std::sortable, std::</a:t>
            </a:r>
            <a:r>
              <a:rPr lang="en-US" dirty="0" err="1"/>
              <a:t>indirectly_readable</a:t>
            </a:r>
            <a:r>
              <a:rPr lang="en-US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170189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5AB8-BE64-FF58-82F8-5D954B3C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5554-8C74-1DCA-5FF3-1FFE9AF28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operator&lt;=&gt;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3E2186-4934-B5D0-5807-9C3F2B9E4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Three-way comparison (</a:t>
            </a:r>
            <a:r>
              <a:rPr lang="ru-RU" dirty="0"/>
              <a:t>оператор “космический корабль</a:t>
            </a:r>
            <a:r>
              <a:rPr lang="en-US" dirty="0"/>
              <a:t>/spaceship</a:t>
            </a:r>
            <a:r>
              <a:rPr lang="ru-RU" dirty="0"/>
              <a:t>” </a:t>
            </a:r>
            <a:r>
              <a:rPr lang="en-US" dirty="0"/>
              <a:t>operator&lt;=&gt;) </a:t>
            </a:r>
            <a:r>
              <a:rPr lang="ru-RU" dirty="0"/>
              <a:t>в </a:t>
            </a:r>
            <a:r>
              <a:rPr lang="en-US" dirty="0"/>
              <a:t>C++20 — </a:t>
            </a:r>
            <a:r>
              <a:rPr lang="ru-RU" dirty="0"/>
              <a:t>это единый </a:t>
            </a:r>
            <a:r>
              <a:rPr lang="ru-RU" b="1" dirty="0"/>
              <a:t>механизм сравнения</a:t>
            </a:r>
            <a:r>
              <a:rPr lang="ru-RU" dirty="0"/>
              <a:t>, который:</a:t>
            </a:r>
          </a:p>
          <a:p>
            <a:r>
              <a:rPr lang="ru-RU" dirty="0"/>
              <a:t>вычисляет </a:t>
            </a:r>
            <a:r>
              <a:rPr lang="ru-RU" b="1" dirty="0"/>
              <a:t>порядок</a:t>
            </a:r>
            <a:r>
              <a:rPr lang="ru-RU" dirty="0"/>
              <a:t> (меньше/равно/больше) одним вызовом</a:t>
            </a:r>
          </a:p>
          <a:p>
            <a:r>
              <a:rPr lang="ru-RU" b="1" dirty="0"/>
              <a:t>автоматически порождает</a:t>
            </a:r>
            <a:r>
              <a:rPr lang="ru-RU" dirty="0"/>
              <a:t> остальные операторы сравнения (&lt;, &lt;=, &gt;, &gt;=, ==, !=) при нужных условиях</a:t>
            </a:r>
          </a:p>
          <a:p>
            <a:r>
              <a:rPr lang="ru-RU" dirty="0"/>
              <a:t>позволяет точно </a:t>
            </a:r>
            <a:r>
              <a:rPr lang="ru-RU" b="1" dirty="0"/>
              <a:t>описывать</a:t>
            </a:r>
            <a:r>
              <a:rPr lang="ru-RU" dirty="0"/>
              <a:t> какой именно </a:t>
            </a:r>
            <a:r>
              <a:rPr lang="ru-RU" b="1" dirty="0"/>
              <a:t>порядок</a:t>
            </a:r>
            <a:r>
              <a:rPr lang="ru-RU" dirty="0"/>
              <a:t> у типа: строгий, слабый, частичный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323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5DB19-4B28-0427-4364-04CDC354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47E36-EEE5-C2AB-CCFC-F35DEB5BC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operator&lt;=&gt;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6A0D68-67D8-ECDF-6A5A-A55F68A1C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std::</a:t>
            </a:r>
            <a:r>
              <a:rPr lang="en-US" b="1" dirty="0" err="1"/>
              <a:t>strong_ordering</a:t>
            </a:r>
            <a:endParaRPr lang="en-US" b="1" dirty="0"/>
          </a:p>
          <a:p>
            <a:pPr lvl="1"/>
            <a:r>
              <a:rPr lang="ru-RU" dirty="0"/>
              <a:t>если </a:t>
            </a:r>
            <a:r>
              <a:rPr lang="en-US" dirty="0"/>
              <a:t>a == b, </a:t>
            </a:r>
            <a:r>
              <a:rPr lang="ru-RU" dirty="0"/>
              <a:t>то они взаимозаменяемы </a:t>
            </a:r>
            <a:endParaRPr lang="en-US" dirty="0"/>
          </a:p>
          <a:p>
            <a:pPr lvl="1"/>
            <a:r>
              <a:rPr lang="ru-RU" dirty="0"/>
              <a:t>транзитивность </a:t>
            </a:r>
            <a:endParaRPr lang="en-US" dirty="0"/>
          </a:p>
          <a:p>
            <a:pPr lvl="1"/>
            <a:r>
              <a:rPr lang="ru-RU" dirty="0"/>
              <a:t>примеры: целые числа, строки, кортежи, структуры из таких полей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std::</a:t>
            </a:r>
            <a:r>
              <a:rPr lang="en-US" b="1" dirty="0" err="1"/>
              <a:t>weak_ordering</a:t>
            </a:r>
            <a:endParaRPr lang="en-US" b="1" dirty="0"/>
          </a:p>
          <a:p>
            <a:pPr lvl="1"/>
            <a:r>
              <a:rPr lang="ru-RU" dirty="0"/>
              <a:t>"</a:t>
            </a:r>
            <a:r>
              <a:rPr lang="en-US" dirty="0"/>
              <a:t>Hello" </a:t>
            </a:r>
            <a:r>
              <a:rPr lang="ru-RU" dirty="0"/>
              <a:t>и "</a:t>
            </a:r>
            <a:r>
              <a:rPr lang="en-US" dirty="0"/>
              <a:t>hello" </a:t>
            </a:r>
            <a:r>
              <a:rPr lang="ru-RU" dirty="0"/>
              <a:t>эквивалентны по смыслу, но не равны как строки</a:t>
            </a: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std::</a:t>
            </a:r>
            <a:r>
              <a:rPr lang="en-US" b="1" dirty="0" err="1"/>
              <a:t>partial_ordering</a:t>
            </a:r>
            <a:endParaRPr lang="en-US" b="1" dirty="0"/>
          </a:p>
          <a:p>
            <a:pPr lvl="1"/>
            <a:r>
              <a:rPr lang="en-US" dirty="0" err="1"/>
              <a:t>NaN</a:t>
            </a:r>
            <a:r>
              <a:rPr lang="en-US" dirty="0"/>
              <a:t> </a:t>
            </a:r>
            <a:r>
              <a:rPr lang="ru-RU" dirty="0"/>
              <a:t>не сравнимо с любым </a:t>
            </a:r>
            <a:r>
              <a:rPr lang="en-US" dirty="0"/>
              <a:t>double</a:t>
            </a:r>
          </a:p>
        </p:txBody>
      </p:sp>
    </p:spTree>
    <p:extLst>
      <p:ext uri="{BB962C8B-B14F-4D97-AF65-F5344CB8AC3E}">
        <p14:creationId xmlns:p14="http://schemas.microsoft.com/office/powerpoint/2010/main" val="4027764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48892-4552-63CE-8F1D-0C8303BD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1CFA-5BFC-40AE-95A1-C9DEA8F5C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operator&lt;=&gt;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C6623B-972A-0655-8334-C5EDA0E4E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031DCF-759F-7D64-1CC9-C687C3339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1044"/>
            <a:ext cx="55753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24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AB99A-0FF4-CE70-13A5-C5C2B320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61542-EA74-EA89-46A1-869A2BC8E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operator&lt;=&gt;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E2F66A-593B-E4F8-D8CA-C6914CF63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B0492-D26B-F38E-91A8-AE92C7CBA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1394"/>
            <a:ext cx="54610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6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8A48B-1D1E-655A-F6E8-53F948E7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9EE-18D1-12A7-1C43-E8D40B3B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operator&lt;=&gt;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63648D-1879-8145-7E77-AC7D31CAF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1A3C1E-7956-07BC-619A-20287CB91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6344"/>
            <a:ext cx="65405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54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E3206-4FEE-2963-4EC8-1401094B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21B8-0C36-2140-A1AA-9BC1350B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97A224-44D5-F5EB-9B18-559079BBF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F481D-2851-2138-7FFC-C5B2DC16D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2103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6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D2673-769F-4D9B-1B24-43B958A8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A5C33-2B3F-57F2-8822-D1D5CCA2C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A6192-F3C2-04CE-285E-6AD82FAA6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Range — </a:t>
            </a:r>
            <a:r>
              <a:rPr lang="ru-RU" dirty="0"/>
              <a:t>это что-то, по чему можно итерироваться:</a:t>
            </a:r>
          </a:p>
          <a:p>
            <a:pPr lvl="1"/>
            <a:r>
              <a:rPr lang="ru-RU" dirty="0"/>
              <a:t>контейнер (</a:t>
            </a:r>
            <a:r>
              <a:rPr lang="en-US" dirty="0"/>
              <a:t>std::vector, std::list, std::string)</a:t>
            </a:r>
          </a:p>
          <a:p>
            <a:pPr lvl="1"/>
            <a:r>
              <a:rPr lang="ru-RU" dirty="0"/>
              <a:t>массив</a:t>
            </a:r>
          </a:p>
          <a:p>
            <a:pPr lvl="1"/>
            <a:r>
              <a:rPr lang="en-US" dirty="0"/>
              <a:t>view</a:t>
            </a:r>
          </a:p>
          <a:p>
            <a:pPr lvl="1"/>
            <a:r>
              <a:rPr lang="ru-RU" dirty="0"/>
              <a:t>любой тип с методами </a:t>
            </a:r>
            <a:r>
              <a:rPr lang="en-US" dirty="0"/>
              <a:t>begin() </a:t>
            </a:r>
            <a:r>
              <a:rPr lang="ru-RU" dirty="0"/>
              <a:t>и</a:t>
            </a:r>
            <a:r>
              <a:rPr lang="en-US" dirty="0"/>
              <a:t> end()</a:t>
            </a:r>
            <a:endParaRPr lang="ru-RU" dirty="0"/>
          </a:p>
          <a:p>
            <a:pPr lvl="1"/>
            <a:endParaRPr lang="ru-RU" dirty="0"/>
          </a:p>
          <a:p>
            <a:pPr marL="0" indent="0">
              <a:buNone/>
            </a:pPr>
            <a:r>
              <a:rPr lang="en-US" dirty="0"/>
              <a:t>View — </a:t>
            </a:r>
            <a:r>
              <a:rPr lang="ru-RU" dirty="0"/>
              <a:t>это </a:t>
            </a:r>
            <a:r>
              <a:rPr lang="en-US" dirty="0"/>
              <a:t>range, </a:t>
            </a:r>
            <a:r>
              <a:rPr lang="ru-RU" dirty="0"/>
              <a:t>который:</a:t>
            </a:r>
          </a:p>
          <a:p>
            <a:pPr lvl="1"/>
            <a:r>
              <a:rPr lang="ru-RU" dirty="0"/>
              <a:t>лёгкий</a:t>
            </a:r>
          </a:p>
          <a:p>
            <a:pPr lvl="1"/>
            <a:r>
              <a:rPr lang="ru-RU" dirty="0"/>
              <a:t>не владеет данными</a:t>
            </a:r>
          </a:p>
          <a:p>
            <a:pPr lvl="1"/>
            <a:r>
              <a:rPr lang="ru-RU" dirty="0"/>
              <a:t>обычно ленивый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740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6F117-37ED-0387-91D6-2F6E80B15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B1201-EFB6-267C-91BA-29B21C7A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3F180AD-D156-B896-1985-A745F0DDBD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Оператор | перегружен так, что </a:t>
                </a:r>
              </a:p>
              <a:p>
                <a:pPr marL="0" indent="0">
                  <a:buNone/>
                </a:pPr>
                <a:r>
                  <a:rPr lang="ru-RU" dirty="0"/>
                  <a:t>	</a:t>
                </a:r>
                <a:r>
                  <a:rPr lang="en-US" dirty="0"/>
                  <a:t>range | adaptor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эквивалентно</a:t>
                </a:r>
              </a:p>
              <a:p>
                <a:pPr marL="0" indent="0">
                  <a:buNone/>
                </a:pPr>
                <a:r>
                  <a:rPr lang="ru-RU" dirty="0"/>
                  <a:t>	</a:t>
                </a:r>
                <a:r>
                  <a:rPr lang="en-US" dirty="0"/>
                  <a:t>adaptor(range)</a:t>
                </a:r>
              </a:p>
              <a:p>
                <a:pPr marL="0" indent="0">
                  <a:buNone/>
                </a:pPr>
                <a:r>
                  <a:rPr lang="ru-RU" dirty="0"/>
                  <a:t>т.е.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𝑡𝑎𝑘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𝑡𝑟𝑎𝑛𝑠𝑓𝑜𝑟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𝑠𝑞𝑢𝑎𝑟𝑒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𝑓𝑖𝑙𝑡𝑒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𝑖𝑠𝑒𝑣𝑒𝑛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3F180AD-D156-B896-1985-A745F0DDBD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CB3395A-9C1C-094D-CDA8-E7860A2F8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793" y="4184433"/>
            <a:ext cx="43815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74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0A6D-0061-0D98-A32C-608985DC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E357-1EAF-18AC-AAA8-F79E51036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F1B610-0D0B-3A2B-D4D4-14B8CC58E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2620BB-7BA4-E912-A265-231A29465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4844"/>
            <a:ext cx="48641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47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284EB-FB09-9AF3-7529-2CA5381FE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96F8C-4257-023F-BDED-80F2FB7B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E3AA156-AD17-052D-A7B7-92B87DD09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E5ED2D-07D3-51E6-2450-3FF701DBE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1394"/>
            <a:ext cx="59309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95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EF03-83B7-63B4-C0C0-2C79C545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FB0C-46B7-F0F6-A1DD-B687C48E0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F85723-1A5F-2829-AD76-ABDB2ACBC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28F9E-07F6-DE25-EED3-00DE5377C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75438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17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0E7B4-DA28-F872-EE9E-3A1DFE27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0E764-97A6-247D-3BF0-570A4C86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2CC176-D055-81CB-D810-C985E3C11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Корутины</a:t>
            </a:r>
            <a:r>
              <a:rPr lang="ru-RU" dirty="0"/>
              <a:t> в </a:t>
            </a:r>
            <a:r>
              <a:rPr lang="en-US" dirty="0"/>
              <a:t>C++20 — </a:t>
            </a:r>
            <a:r>
              <a:rPr lang="ru-RU" dirty="0"/>
              <a:t>это языковой </a:t>
            </a:r>
            <a:r>
              <a:rPr lang="ru-RU" b="1" dirty="0"/>
              <a:t>механизм для написания </a:t>
            </a:r>
            <a:r>
              <a:rPr lang="ru-RU" dirty="0"/>
              <a:t>асинхронного и ленивого кода в прямом, синхронном стиле.</a:t>
            </a:r>
          </a:p>
          <a:p>
            <a:pPr marL="0" indent="0">
              <a:buNone/>
            </a:pPr>
            <a:r>
              <a:rPr lang="ru-RU" dirty="0"/>
              <a:t>Они позволяют </a:t>
            </a:r>
            <a:r>
              <a:rPr lang="ru-RU" b="1" dirty="0"/>
              <a:t>приостанавливать </a:t>
            </a:r>
            <a:r>
              <a:rPr lang="ru-RU" dirty="0"/>
              <a:t>выполнение функции и </a:t>
            </a:r>
            <a:r>
              <a:rPr lang="ru-RU" b="1" dirty="0"/>
              <a:t>возобновлять</a:t>
            </a:r>
            <a:r>
              <a:rPr lang="ru-RU" dirty="0"/>
              <a:t> её позже, </a:t>
            </a:r>
            <a:r>
              <a:rPr lang="ru-RU" b="1" dirty="0"/>
              <a:t>сохраняя</a:t>
            </a:r>
            <a:r>
              <a:rPr lang="ru-RU" dirty="0"/>
              <a:t> </a:t>
            </a:r>
            <a:r>
              <a:rPr lang="ru-RU" b="1" dirty="0"/>
              <a:t>локальное состояние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Важно: в </a:t>
            </a:r>
            <a:r>
              <a:rPr lang="en-US" dirty="0"/>
              <a:t>C++20 </a:t>
            </a:r>
            <a:r>
              <a:rPr lang="ru-RU" dirty="0"/>
              <a:t>нет стандартной библиотеки для </a:t>
            </a:r>
            <a:r>
              <a:rPr lang="en-US" dirty="0"/>
              <a:t>async/await, </a:t>
            </a:r>
            <a:r>
              <a:rPr lang="ru-RU" dirty="0"/>
              <a:t>есть только языковой каркас. Всё остальное — через </a:t>
            </a:r>
            <a:r>
              <a:rPr lang="en-US" dirty="0" err="1"/>
              <a:t>promise_type</a:t>
            </a:r>
            <a:r>
              <a:rPr lang="en-US" dirty="0"/>
              <a:t> </a:t>
            </a:r>
            <a:r>
              <a:rPr lang="ru-RU" dirty="0"/>
              <a:t>и обёртки.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Новые ключевые слова: </a:t>
            </a:r>
            <a:r>
              <a:rPr lang="en-US" b="1" dirty="0" err="1"/>
              <a:t>co_return</a:t>
            </a:r>
            <a:r>
              <a:rPr lang="en-US" dirty="0"/>
              <a:t>, </a:t>
            </a:r>
            <a:r>
              <a:rPr lang="en-US" b="1" dirty="0" err="1"/>
              <a:t>co_yield</a:t>
            </a:r>
            <a:r>
              <a:rPr lang="en-US" dirty="0"/>
              <a:t>, </a:t>
            </a:r>
            <a:r>
              <a:rPr lang="en-US" b="1" dirty="0" err="1"/>
              <a:t>co_await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4885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7C760-6F64-DB80-CD17-1FBA4E6A9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E226-0693-6DA1-3ACB-3993F4682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38FCC2-3AD5-D369-B70D-AC2F25593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F628C2-CCDD-A376-5371-831A4DF3E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3279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61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949D2-0DD7-E768-1322-D2B9381C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A49E8-1EAB-C5D2-6FB6-B0033077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A567F7-3E67-C94D-35B2-46AA1AB83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38E6C-131C-B4AC-56FB-E6F5B905B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3279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30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2E7C7-498C-80F3-06D7-23526701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6A535-D16C-E29E-C0C1-5D1B0E9A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73EE012-BB8C-E64F-79F3-EADA43057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FCE694-49B7-6CB1-531F-B36D3EFB6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0644"/>
            <a:ext cx="43053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09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39BD2-FFD4-3ABE-BD68-D9B4ECF2E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0ADC7-B1A8-5528-125E-817611A4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C75F9F-1A47-1B3C-F191-B32103A7F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Выделяется фрейм </a:t>
            </a:r>
            <a:r>
              <a:rPr lang="ru-RU" dirty="0" err="1"/>
              <a:t>корутины</a:t>
            </a:r>
            <a:r>
              <a:rPr lang="ru-RU" dirty="0"/>
              <a:t>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Вызывается </a:t>
            </a:r>
            <a:r>
              <a:rPr lang="en-US" dirty="0" err="1"/>
              <a:t>promise_type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Выполняется </a:t>
            </a:r>
            <a:r>
              <a:rPr lang="en-US" dirty="0" err="1"/>
              <a:t>initial_suspend</a:t>
            </a:r>
            <a:r>
              <a:rPr lang="en-US" dirty="0"/>
              <a:t>()</a:t>
            </a:r>
          </a:p>
          <a:p>
            <a:pPr lvl="1"/>
            <a:r>
              <a:rPr lang="ru-RU" dirty="0"/>
              <a:t>если </a:t>
            </a:r>
            <a:r>
              <a:rPr lang="en-US" dirty="0" err="1"/>
              <a:t>suspend_always</a:t>
            </a:r>
            <a:r>
              <a:rPr lang="en-US" dirty="0"/>
              <a:t> → </a:t>
            </a:r>
            <a:r>
              <a:rPr lang="ru-RU" dirty="0" err="1"/>
              <a:t>корутина</a:t>
            </a:r>
            <a:r>
              <a:rPr lang="ru-RU" dirty="0"/>
              <a:t> не стартует сразу</a:t>
            </a:r>
          </a:p>
          <a:p>
            <a:pPr lvl="1"/>
            <a:r>
              <a:rPr lang="ru-RU" dirty="0"/>
              <a:t>если </a:t>
            </a:r>
            <a:r>
              <a:rPr lang="en-US" dirty="0" err="1"/>
              <a:t>suspend_never</a:t>
            </a:r>
            <a:r>
              <a:rPr lang="en-US" dirty="0"/>
              <a:t> → </a:t>
            </a:r>
            <a:r>
              <a:rPr lang="ru-RU" dirty="0"/>
              <a:t>стартует сразу</a:t>
            </a:r>
          </a:p>
          <a:p>
            <a:pPr marL="0" indent="0">
              <a:buNone/>
            </a:pPr>
            <a:r>
              <a:rPr lang="ru-RU" dirty="0"/>
              <a:t>При каждом </a:t>
            </a:r>
            <a:r>
              <a:rPr lang="en-US" dirty="0"/>
              <a:t>resume():</a:t>
            </a:r>
          </a:p>
          <a:p>
            <a:pPr lvl="1"/>
            <a:r>
              <a:rPr lang="ru-RU" dirty="0"/>
              <a:t>выполнение продолжается</a:t>
            </a:r>
          </a:p>
          <a:p>
            <a:pPr lvl="1"/>
            <a:r>
              <a:rPr lang="ru-RU" dirty="0"/>
              <a:t>на </a:t>
            </a:r>
            <a:r>
              <a:rPr lang="en-US" dirty="0" err="1"/>
              <a:t>co_yield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 err="1"/>
              <a:t>co_await</a:t>
            </a:r>
            <a:r>
              <a:rPr lang="en-US" dirty="0"/>
              <a:t> — </a:t>
            </a:r>
            <a:r>
              <a:rPr lang="ru-RU" dirty="0"/>
              <a:t>снова </a:t>
            </a:r>
            <a:r>
              <a:rPr lang="en-US" dirty="0"/>
              <a:t>suspend</a:t>
            </a:r>
          </a:p>
          <a:p>
            <a:pPr marL="0" indent="0">
              <a:buNone/>
            </a:pPr>
            <a:r>
              <a:rPr lang="ru-RU" dirty="0"/>
              <a:t>На </a:t>
            </a:r>
            <a:r>
              <a:rPr lang="en-US" dirty="0" err="1"/>
              <a:t>co_return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вызывается </a:t>
            </a:r>
            <a:r>
              <a:rPr lang="en-US" dirty="0" err="1"/>
              <a:t>return_void</a:t>
            </a:r>
            <a:r>
              <a:rPr lang="en-US" dirty="0"/>
              <a:t> / </a:t>
            </a:r>
            <a:r>
              <a:rPr lang="en-US" dirty="0" err="1"/>
              <a:t>return_value</a:t>
            </a:r>
            <a:endParaRPr lang="en-US" dirty="0"/>
          </a:p>
          <a:p>
            <a:pPr lvl="1"/>
            <a:r>
              <a:rPr lang="ru-RU" dirty="0"/>
              <a:t>затем </a:t>
            </a:r>
            <a:r>
              <a:rPr lang="en-US" dirty="0" err="1"/>
              <a:t>final_suspend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01356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8168-CEBD-8439-80DA-11325D0EA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CD8A-0BD3-4A42-E0BA-D4F38506B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EF15BE-E1C6-500F-0766-AEA7515C5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Генераторы</a:t>
            </a:r>
          </a:p>
          <a:p>
            <a:pPr lvl="1"/>
            <a:r>
              <a:rPr lang="ru-RU" dirty="0"/>
              <a:t>ленивые последовательности</a:t>
            </a:r>
          </a:p>
          <a:p>
            <a:pPr lvl="1"/>
            <a:r>
              <a:rPr lang="ru-RU" dirty="0"/>
              <a:t>итерация по файлам, потокам, графам</a:t>
            </a:r>
          </a:p>
          <a:p>
            <a:pPr marL="0" indent="0">
              <a:buNone/>
            </a:pPr>
            <a:r>
              <a:rPr lang="ru-RU" dirty="0"/>
              <a:t>Асинхронный </a:t>
            </a:r>
            <a:r>
              <a:rPr lang="en-US" dirty="0"/>
              <a:t>I/O</a:t>
            </a:r>
          </a:p>
          <a:p>
            <a:pPr lvl="1"/>
            <a:r>
              <a:rPr lang="ru-RU" dirty="0"/>
              <a:t>сетевые библиотеки (</a:t>
            </a:r>
            <a:r>
              <a:rPr lang="en-US" dirty="0"/>
              <a:t>boost::</a:t>
            </a:r>
            <a:r>
              <a:rPr lang="en-US" dirty="0" err="1"/>
              <a:t>asio</a:t>
            </a:r>
            <a:r>
              <a:rPr lang="en-US" dirty="0"/>
              <a:t>, </a:t>
            </a:r>
            <a:r>
              <a:rPr lang="en-US" dirty="0" err="1"/>
              <a:t>cppcoro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HTTP, </a:t>
            </a:r>
            <a:r>
              <a:rPr lang="ru-RU" dirty="0"/>
              <a:t>БД, </a:t>
            </a:r>
            <a:r>
              <a:rPr lang="en-US" dirty="0"/>
              <a:t>event loop</a:t>
            </a:r>
          </a:p>
          <a:p>
            <a:pPr marL="0" indent="0">
              <a:buNone/>
            </a:pPr>
            <a:r>
              <a:rPr lang="ru-RU" dirty="0"/>
              <a:t>Кооперативные автоматы</a:t>
            </a:r>
            <a:endParaRPr lang="en-US" dirty="0"/>
          </a:p>
          <a:p>
            <a:pPr lvl="1"/>
            <a:r>
              <a:rPr lang="ru-RU" dirty="0"/>
              <a:t>парсеры</a:t>
            </a:r>
          </a:p>
          <a:p>
            <a:pPr lvl="1"/>
            <a:r>
              <a:rPr lang="ru-RU" dirty="0"/>
              <a:t>игровые скрипты</a:t>
            </a:r>
          </a:p>
          <a:p>
            <a:pPr lvl="1"/>
            <a:r>
              <a:rPr lang="ru-RU" dirty="0"/>
              <a:t>сценарии диалогов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3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825E5-9964-36B0-3793-56ACCF1A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56B5-E1BA-EE34-267C-B8565BF4C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std::format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8209BE-E186-1864-DD00-85B512C3F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EE04A4-3171-0759-BB9B-120C88B72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9144"/>
            <a:ext cx="69342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94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4BF6-DD69-5BDE-CFB7-1BB0D4B8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E4A8A-414B-8823-8262-8933681C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std::format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7314E2-56D6-5FA0-BA5F-6E7D9A998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334F23-127B-1F8C-13E1-5F0BF65F5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0544"/>
            <a:ext cx="75692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84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945C0-414B-85C6-67FB-7B10604A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282A-3D58-1259-6EF9-AD0530C7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std::format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F14662-5B93-5542-CA5F-15B19A94B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CD49C-2C6B-9A5C-681E-57F4C7BB8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9126"/>
            <a:ext cx="5636172" cy="515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443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32BAE-176A-2E6F-6D84-76FA497D2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23208-6D03-7DCD-2D51-ED6907459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lambda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1C9635-3718-7C74-5DFD-688DB00F4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77A44A-3555-92EA-7392-8599B8D12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05994"/>
            <a:ext cx="56642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47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6B7D2-314D-A426-D900-5B863E99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839C-651C-2A3B-181D-E2675DD6B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Точечная инициализация структур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5AB982-1402-A2EE-D596-3E945721C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0B8C51-A599-1D1A-4759-1F3A53EEC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26644"/>
            <a:ext cx="35560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063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062-48E5-E683-5CBE-FC5724D50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E704-8FFC-9928-E234-B6CA60C79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enum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097BAC-B117-DD5B-B0BC-02106A6C6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6BA68-298B-A866-B4FD-790C51411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90094"/>
            <a:ext cx="4216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70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CFFBC-323A-1100-AD80-6C6AA5B7E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A88C-8A5A-CB1E-48EB-77798931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std::span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752C401-0A18-BE84-F8ED-B4FF37D53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92FE5E-3E08-7D42-6692-7D7BA0686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9344"/>
            <a:ext cx="45466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77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E8E3F-D98E-BD7C-BDBC-B20C0593B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F128-E85E-006A-1B68-6BC2CA5A2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bit_cast</a:t>
            </a:r>
            <a:r>
              <a:rPr lang="en-US" dirty="0"/>
              <a:t> &amp; std::endian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E5AB2E-4A96-AFCA-8D00-E30E97C1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4046A-9F2B-4F9E-AE79-57406E532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47194"/>
            <a:ext cx="61341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06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1528-A2D3-753A-4CDA-D50A9C1C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1BD5-C0C1-7955-B754-FCF4CFD05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std::chrono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A39A2F-0158-9990-18BC-EBAD265CD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800FC-4141-D90B-B22B-98EE65CC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47194"/>
            <a:ext cx="50800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19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D009F-CD20-B338-4DBD-E4B2624A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FF33-64F0-4661-5ADE-A97FE4F4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source_location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3446CD-9CA1-4197-BF52-C704B271B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3B8BFE-C887-80B6-71BF-F4FA086B6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7026"/>
            <a:ext cx="7772400" cy="254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39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683</Words>
  <Application>Microsoft Macintosh PowerPoint</Application>
  <PresentationFormat>Widescreen</PresentationFormat>
  <Paragraphs>144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Office Theme</vt:lpstr>
      <vt:lpstr>Проектирование больших систем на С++</vt:lpstr>
      <vt:lpstr>module</vt:lpstr>
      <vt:lpstr>module</vt:lpstr>
      <vt:lpstr>module</vt:lpstr>
      <vt:lpstr>module</vt:lpstr>
      <vt:lpstr>concept</vt:lpstr>
      <vt:lpstr>concept</vt:lpstr>
      <vt:lpstr>concept</vt:lpstr>
      <vt:lpstr>concept</vt:lpstr>
      <vt:lpstr>concept</vt:lpstr>
      <vt:lpstr>concept</vt:lpstr>
      <vt:lpstr>concept</vt:lpstr>
      <vt:lpstr>operator&lt;=&gt;</vt:lpstr>
      <vt:lpstr>operator&lt;=&gt;</vt:lpstr>
      <vt:lpstr>operator&lt;=&gt;</vt:lpstr>
      <vt:lpstr>operator&lt;=&gt;</vt:lpstr>
      <vt:lpstr>operator&lt;=&gt;</vt:lpstr>
      <vt:lpstr>Ranges</vt:lpstr>
      <vt:lpstr>Ranges</vt:lpstr>
      <vt:lpstr>Ranges</vt:lpstr>
      <vt:lpstr>Ranges</vt:lpstr>
      <vt:lpstr>Ranges</vt:lpstr>
      <vt:lpstr>Ranges</vt:lpstr>
      <vt:lpstr>Coroutines</vt:lpstr>
      <vt:lpstr>Coroutines</vt:lpstr>
      <vt:lpstr>Coroutines</vt:lpstr>
      <vt:lpstr>Coroutines</vt:lpstr>
      <vt:lpstr>Coroutines</vt:lpstr>
      <vt:lpstr>Coroutines</vt:lpstr>
      <vt:lpstr>std::format</vt:lpstr>
      <vt:lpstr>std::format</vt:lpstr>
      <vt:lpstr>std::format</vt:lpstr>
      <vt:lpstr>template lambda</vt:lpstr>
      <vt:lpstr>Точечная инициализация структур</vt:lpstr>
      <vt:lpstr>using enum</vt:lpstr>
      <vt:lpstr>std::span</vt:lpstr>
      <vt:lpstr>std::bit_cast &amp; std::endian</vt:lpstr>
      <vt:lpstr>std::chrono</vt:lpstr>
      <vt:lpstr>std::source_location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54</cp:revision>
  <dcterms:created xsi:type="dcterms:W3CDTF">2026-01-23T15:20:33Z</dcterms:created>
  <dcterms:modified xsi:type="dcterms:W3CDTF">2026-01-24T11:36:48Z</dcterms:modified>
</cp:coreProperties>
</file>